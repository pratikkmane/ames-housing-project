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11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Ames Housing Market Intelligence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F5F5"/>
                </a:solidFill>
              </a:rPr>
              <a:t>A Data-Driven Guide for Real Estate Investment Decisions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91232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</a:rPr>
              <a:t>Pratik Mane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</a:rPr>
              <a:t>April 27,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</a:rPr>
              <a:t>The Story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The Problem:
</a:t>
            </a:r>
            <a:r>
              <a:rPr lang="en-US" sz="1600" dirty="0">
                <a:solidFill>
                  <a:srgbClr val="1E1E1E"/>
                </a:solidFill>
              </a:rPr>
              <a:t>Real estate investors in Ames, Iowa face uncertainty about which home features drive value and when to buy or sell.
</a:t>
            </a:r>
            <a:r>
              <a:rPr lang="en-US" sz="1800" b="1" dirty="0">
                <a:solidFill>
                  <a:srgbClr val="2C5F2D"/>
                </a:solidFill>
              </a:rPr>
              <a:t>The Approach:
</a:t>
            </a:r>
            <a:r>
              <a:rPr lang="en-US" sz="1600" dirty="0">
                <a:solidFill>
                  <a:srgbClr val="1E1E1E"/>
                </a:solidFill>
              </a:rPr>
              <a:t>Analyzed 2,930 home sales (2006-2010) covering the housing bubble peak, financial crisis, and recovery to identify patterns that still apply today.
</a:t>
            </a:r>
            <a:r>
              <a:rPr lang="en-US" sz="1800" b="1" dirty="0">
                <a:solidFill>
                  <a:srgbClr val="2C5F2D"/>
                </a:solidFill>
              </a:rPr>
              <a:t>The Outcome:
</a:t>
            </a:r>
            <a:r>
              <a:rPr lang="en-US" sz="1600" dirty="0">
                <a:solidFill>
                  <a:srgbClr val="1E1E1E"/>
                </a:solidFill>
              </a:rPr>
              <a:t>Data-driven strategies for pricing homes accurately, timing the market, and maximizing investment returns.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1463040"/>
          </a:xfrm>
          <a:prstGeom prst="round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+$32,000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per quality point increase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(Strongest predictor: r=0.80)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1463040"/>
          </a:xfrm>
          <a:prstGeom prst="round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$20,000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seasonal swing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(June peak vs January trough)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840480" cy="1463040"/>
          </a:xfrm>
          <a:prstGeom prst="round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-$650/year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age depreciation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(Renovation doesn't overcome old age)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3840480" cy="1463040"/>
          </a:xfrm>
          <a:prstGeom prst="round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22% decline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during 2008 crisis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(Recovery began late 2009)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</a:rPr>
              <a:t>The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14800" cy="37621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</a:rPr>
              <a:t>Dataset Overview
</a:t>
            </a:r>
            <a:r>
              <a:rPr lang="en-US" sz="1600" dirty="0">
                <a:solidFill>
                  <a:srgbClr val="1E1E1E"/>
                </a:solidFill>
              </a:rPr>
              <a:t>• 2,930 homes sold in Ames, Iowa
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</a:rPr>
              <a:t>• 82 variables including size, quality, age, features, location
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</a:rPr>
              <a:t>• Time period: </a:t>
            </a:r>
            <a:r>
              <a:rPr lang="en-US" sz="1600" b="1" dirty="0">
                <a:solidFill>
                  <a:srgbClr val="1E1E1E"/>
                </a:solidFill>
              </a:rPr>
              <a:t>2006-2010 </a:t>
            </a:r>
            <a:r>
              <a:rPr lang="en-US" sz="1600" dirty="0">
                <a:solidFill>
                  <a:srgbClr val="1E1E1E"/>
                </a:solidFill>
              </a:rPr>
              <a:t>(housing bubble peak → financial crisis → recovery)
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</a:rPr>
              <a:t>Why This Period Matters?
</a:t>
            </a:r>
            <a:r>
              <a:rPr lang="en-US" sz="1600" dirty="0">
                <a:solidFill>
                  <a:srgbClr val="1E1E1E"/>
                </a:solidFill>
              </a:rPr>
              <a:t>Captures a complete market cycle showing how homes hold value during both boom and bust times.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0" y="457200"/>
            <a:ext cx="384048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0" y="594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</a:rPr>
              <a:t>Audience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1051560"/>
            <a:ext cx="3474720" cy="2801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</a:rPr>
              <a:t>Ames Real Estate Investment Group</a:t>
            </a:r>
            <a:br>
              <a:rPr lang="en-US" sz="1400" b="1" dirty="0">
                <a:solidFill>
                  <a:srgbClr val="1E1E1E"/>
                </a:solidFill>
              </a:rPr>
            </a:br>
            <a:r>
              <a:rPr lang="en-US" sz="1400" b="1" dirty="0">
                <a:solidFill>
                  <a:srgbClr val="1E1E1E"/>
                </a:solidFill>
              </a:rPr>
              <a:t>
</a:t>
            </a:r>
            <a:r>
              <a:rPr lang="en-US" sz="1400" b="1" dirty="0">
                <a:solidFill>
                  <a:srgbClr val="2C5F2D"/>
                </a:solidFill>
              </a:rPr>
              <a:t>Sellers
</a:t>
            </a:r>
            <a:r>
              <a:rPr lang="en-US" sz="1200" dirty="0">
                <a:solidFill>
                  <a:srgbClr val="1E1E1E"/>
                </a:solidFill>
              </a:rPr>
              <a:t>When to list? Which improvements add value?
</a:t>
            </a:r>
            <a:r>
              <a:rPr lang="en-US" sz="1400" b="1" dirty="0">
                <a:solidFill>
                  <a:srgbClr val="2C5F2D"/>
                </a:solidFill>
              </a:rPr>
              <a:t>Buyers
</a:t>
            </a:r>
            <a:r>
              <a:rPr lang="en-US" sz="1200" dirty="0">
                <a:solidFill>
                  <a:srgbClr val="1E1E1E"/>
                </a:solidFill>
              </a:rPr>
              <a:t>When to shop? What features justify premium prices?
</a:t>
            </a:r>
            <a:r>
              <a:rPr lang="en-US" sz="1400" b="1" dirty="0">
                <a:solidFill>
                  <a:srgbClr val="2C5F2D"/>
                </a:solidFill>
              </a:rPr>
              <a:t>Investors
</a:t>
            </a:r>
            <a:r>
              <a:rPr lang="en-US" sz="1200" dirty="0">
                <a:solidFill>
                  <a:srgbClr val="1E1E1E"/>
                </a:solidFill>
              </a:rPr>
              <a:t>How to maximize ROI? Where is the sweet spot?
</a:t>
            </a:r>
            <a:r>
              <a:rPr lang="en-US" sz="1400" b="1" dirty="0">
                <a:solidFill>
                  <a:srgbClr val="2C5F2D"/>
                </a:solidFill>
              </a:rPr>
              <a:t>Developers
</a:t>
            </a:r>
            <a:r>
              <a:rPr lang="en-US" sz="1200" dirty="0">
                <a:solidFill>
                  <a:srgbClr val="1E1E1E"/>
                </a:solidFill>
              </a:rPr>
              <a:t>What to build? Which features optimize profit?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778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</a:rPr>
              <a:t>Finding #1: Quality Is King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</a:rPr>
              <a:t>Overall quality rating (1-10 scale) is the strongest predictor of home value, with a correlation of 0.80. Each quality point adds approximately $32,000 to the sale price.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429647"/>
              </p:ext>
            </p:extLst>
          </p:nvPr>
        </p:nvGraphicFramePr>
        <p:xfrm>
          <a:off x="1371600" y="1652451"/>
          <a:ext cx="6400800" cy="219456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Quality Level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Average Price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Difference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5 (Average)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$130,000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7 (Good)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$194,000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+$64,000 (+49%)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9 (Excellent)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$258,000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</a:rPr>
                        <a:t>+$128,000 (+98%)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4114800"/>
            <a:ext cx="7315200" cy="914400"/>
          </a:xfrm>
          <a:prstGeom prst="round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3"/>
          <p:cNvSpPr/>
          <p:nvPr/>
        </p:nvSpPr>
        <p:spPr>
          <a:xfrm>
            <a:off x="1097280" y="4297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Takeaway: Focus upgrades on quality improvements (materials, finishes, craftsmanship) over size additions for best ROI.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</a:rPr>
              <a:t>Finding #2: Timing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</a:rPr>
              <a:t>Sale prices fluctuate $20,000 between summer peaks and winter troughs. The 2008 crisis caused a 22% decline, but recovery began in late 2009.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Seasonal Pattern: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</a:rPr>
              <a:t>• </a:t>
            </a:r>
            <a:r>
              <a:rPr lang="en-US" sz="1600" b="1" dirty="0">
                <a:solidFill>
                  <a:srgbClr val="2C5F2D"/>
                </a:solidFill>
              </a:rPr>
              <a:t>June peak: </a:t>
            </a:r>
            <a:r>
              <a:rPr lang="en-US" sz="1600" dirty="0">
                <a:solidFill>
                  <a:srgbClr val="1E1E1E"/>
                </a:solidFill>
              </a:rPr>
              <a:t>~$175,000 avg
• </a:t>
            </a:r>
            <a:r>
              <a:rPr lang="en-US" sz="1600" b="1" dirty="0">
                <a:solidFill>
                  <a:srgbClr val="2C5F2D"/>
                </a:solidFill>
              </a:rPr>
              <a:t>January trough: </a:t>
            </a:r>
            <a:r>
              <a:rPr lang="en-US" sz="1600" dirty="0">
                <a:solidFill>
                  <a:srgbClr val="1E1E1E"/>
                </a:solidFill>
              </a:rPr>
              <a:t>~$155,000 avg
• </a:t>
            </a:r>
            <a:r>
              <a:rPr lang="en-US" sz="1600" b="1" dirty="0">
                <a:solidFill>
                  <a:srgbClr val="1E1E1E"/>
                </a:solidFill>
              </a:rPr>
              <a:t>$20,000 difference </a:t>
            </a:r>
            <a:r>
              <a:rPr lang="en-US" sz="1600" dirty="0">
                <a:solidFill>
                  <a:srgbClr val="1E1E1E"/>
                </a:solidFill>
              </a:rPr>
              <a:t>= 12% premium for summer listings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Crisis Impact: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25603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</a:rPr>
              <a:t>• </a:t>
            </a:r>
            <a:r>
              <a:rPr lang="en-US" sz="1600" b="1" dirty="0">
                <a:solidFill>
                  <a:srgbClr val="2C5F2D"/>
                </a:solidFill>
              </a:rPr>
              <a:t>2007 peak: </a:t>
            </a:r>
            <a:r>
              <a:rPr lang="en-US" sz="1600" dirty="0">
                <a:solidFill>
                  <a:srgbClr val="1E1E1E"/>
                </a:solidFill>
              </a:rPr>
              <a:t>$185,000 avg
• </a:t>
            </a:r>
            <a:r>
              <a:rPr lang="en-US" sz="1600" b="1" dirty="0">
                <a:solidFill>
                  <a:srgbClr val="2C5F2D"/>
                </a:solidFill>
              </a:rPr>
              <a:t>2009 trough: </a:t>
            </a:r>
            <a:r>
              <a:rPr lang="en-US" sz="1600" dirty="0">
                <a:solidFill>
                  <a:srgbClr val="1E1E1E"/>
                </a:solidFill>
              </a:rPr>
              <a:t>$144,000 avg
• </a:t>
            </a:r>
            <a:r>
              <a:rPr lang="en-US" sz="1600" b="1" dirty="0">
                <a:solidFill>
                  <a:srgbClr val="1E1E1E"/>
                </a:solidFill>
              </a:rPr>
              <a:t>22% decline </a:t>
            </a:r>
            <a:r>
              <a:rPr lang="en-US" sz="1600" dirty="0">
                <a:solidFill>
                  <a:srgbClr val="1E1E1E"/>
                </a:solidFill>
              </a:rPr>
              <a:t>during financial crisis
• </a:t>
            </a:r>
            <a:r>
              <a:rPr lang="en-US" sz="1600" b="1" dirty="0">
                <a:solidFill>
                  <a:srgbClr val="2C5F2D"/>
                </a:solidFill>
              </a:rPr>
              <a:t>Recovery: </a:t>
            </a:r>
            <a:r>
              <a:rPr lang="en-US" sz="1600" dirty="0">
                <a:solidFill>
                  <a:srgbClr val="1E1E1E"/>
                </a:solidFill>
              </a:rPr>
              <a:t>Began late 2009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7315200" cy="914400"/>
          </a:xfrm>
          <a:prstGeom prst="round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Takeaway: List in May-June for +$15K premium. Buy in January-February to save $12K. Crisis troughs offer 20-30% discounts.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</a:rPr>
              <a:t>The Pricing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1E"/>
                </a:solidFill>
              </a:rPr>
              <a:t>Built a multiple regression model to predict home prices based on the four strongest drivers identified in hypothesis testing.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11480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Model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</a:rPr>
              <a:t>• R² = 0.76 (explains 76% of price variation)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</a:rPr>
              <a:t>• RMSE = $39,000 (typical error)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Top Predictors: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377440"/>
          <a:ext cx="3840480" cy="1828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Predictor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Impact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Overall Quality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+$32,000 per point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Living Area (sq ft)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+$6,000 per 100 sq ft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Garage Area (sq ft)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+$2,500 per 100 sq ft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Age at Sale (years)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-$650 per year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97280" y="45262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</a:t>
            </a:r>
            <a:r>
              <a:rPr lang="en-US" sz="1300" b="1" dirty="0"/>
              <a:t>Takeaway: Quality upgrades deliver 5x more value than size additions. Focus on materials and finishes, not square footage.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</a:rPr>
              <a:t>Actionable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🏡 For Sellers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</a:rPr>
              <a:t>• List May-June for +$15K premium
• Focus quality upgrades (highest ROI)
• Modern finishes &gt; room additions
• Avoid major renovations on old homes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🛒 For Buyers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</a:rPr>
              <a:t>• Shop January-February (save $12K)
• Don't overpay for renovated old homes
• Quality matters more than size
• Negotiate harder in winter months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💰 For Investors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</a:rPr>
              <a:t>• Buy crisis troughs (20-30% discount)
• Target quality 8, ~1,900 sq ft homes
• Quality upgrades deliver 5x ROI vs size
• Avoid luxury spec (model less accurate)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3840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</a:rPr>
              <a:t>🏗️ For Developers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</a:rPr>
              <a:t>• Build quality 8, 1,900 sq ft (sweet spot)
• Premium materials &gt; square footage
• Avoid luxury spec homes (&gt;$300K)
• Target June listings for best prices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837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</a:rPr>
              <a:t>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0539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</a:rPr>
              <a:t>Statistical Approach: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149530"/>
            <a:ext cx="8229600" cy="36771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1. Exploratory Data Analysis
</a:t>
            </a:r>
            <a:r>
              <a:rPr lang="en-US" sz="1400" dirty="0">
                <a:solidFill>
                  <a:srgbClr val="1E1E1E"/>
                </a:solidFill>
              </a:rPr>
              <a:t>   • Distributions, correlations, outliers, missing data assessment
   • Identified quality (r=0.80) and size (r=0.71) as top predictors
</a:t>
            </a:r>
            <a:r>
              <a:rPr lang="en-US" sz="1600" b="1" dirty="0">
                <a:solidFill>
                  <a:srgbClr val="2C5F2D"/>
                </a:solidFill>
              </a:rPr>
              <a:t>2. Hypothesis Testing
</a:t>
            </a:r>
            <a:r>
              <a:rPr lang="en-US" sz="1400" dirty="0">
                <a:solidFill>
                  <a:srgbClr val="1E1E1E"/>
                </a:solidFill>
              </a:rPr>
              <a:t>   • Central Air: t-test showed +$84K premium (p&lt;0.001)
   • Recent Construction: +$92K for homes built 2000+ (p&lt;0.001)
   • House Style: ANOVA confirmed significant price differences (p&lt;0.001)
</a:t>
            </a:r>
            <a:r>
              <a:rPr lang="en-US" sz="1600" b="1" dirty="0">
                <a:solidFill>
                  <a:srgbClr val="2C5F2D"/>
                </a:solidFill>
              </a:rPr>
              <a:t>3. Multiple Regression Model
</a:t>
            </a:r>
            <a:r>
              <a:rPr lang="en-US" sz="1400" dirty="0">
                <a:solidFill>
                  <a:srgbClr val="1E1E1E"/>
                </a:solidFill>
              </a:rPr>
              <a:t>   • R²=0.76, RMSE=$39K
   • Predictors: Overall Quality, Living Area, Garage Area, Age at Sale
   • Diagnostics: Mild heteroscedasticity, Q-Q plot good in center
</a:t>
            </a:r>
            <a:r>
              <a:rPr lang="en-US" sz="1600" b="1" dirty="0">
                <a:solidFill>
                  <a:srgbClr val="2C5F2D"/>
                </a:solidFill>
              </a:rPr>
              <a:t>4. Time Series Analysis
</a:t>
            </a:r>
            <a:r>
              <a:rPr lang="en-US" sz="1400" dirty="0">
                <a:solidFill>
                  <a:srgbClr val="1E1E1E"/>
                </a:solidFill>
              </a:rPr>
              <a:t>   • Seasonal decomposition, ACF/PACF, trend identification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F5F5"/>
                </a:solidFill>
              </a:rPr>
              <a:t>Thank you for your attention!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</a:rPr>
              <a:t>Pratik Mane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</a:rPr>
              <a:t>pratikkmane.github.io/ames-housing-project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952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Pratik Mane</cp:lastModifiedBy>
  <cp:revision>8</cp:revision>
  <dcterms:created xsi:type="dcterms:W3CDTF">2026-05-08T20:42:22Z</dcterms:created>
  <dcterms:modified xsi:type="dcterms:W3CDTF">2026-05-08T20:49:37Z</dcterms:modified>
</cp:coreProperties>
</file>